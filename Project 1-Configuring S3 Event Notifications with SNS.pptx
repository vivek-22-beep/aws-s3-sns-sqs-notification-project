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74" r:id="rId4"/>
    <p:sldId id="258" r:id="rId5"/>
    <p:sldId id="259" r:id="rId6"/>
    <p:sldId id="265" r:id="rId7"/>
    <p:sldId id="275" r:id="rId8"/>
    <p:sldId id="266" r:id="rId9"/>
    <p:sldId id="268" r:id="rId10"/>
    <p:sldId id="276" r:id="rId11"/>
    <p:sldId id="262" r:id="rId12"/>
    <p:sldId id="264" r:id="rId13"/>
    <p:sldId id="269" r:id="rId14"/>
    <p:sldId id="277" r:id="rId15"/>
    <p:sldId id="278"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BC2CD95-01E4-4B67-A4CE-5EF9C2CF3178}"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D19A97-9844-44BA-81F5-EBFE59EBBEA0}" type="slidenum">
              <a:rPr lang="en-IN" smtClean="0"/>
              <a:t>‹#›</a:t>
            </a:fld>
            <a:endParaRPr lang="en-IN"/>
          </a:p>
        </p:txBody>
      </p:sp>
    </p:spTree>
    <p:extLst>
      <p:ext uri="{BB962C8B-B14F-4D97-AF65-F5344CB8AC3E}">
        <p14:creationId xmlns:p14="http://schemas.microsoft.com/office/powerpoint/2010/main" val="140740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C2CD95-01E4-4B67-A4CE-5EF9C2CF3178}"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D19A97-9844-44BA-81F5-EBFE59EBBEA0}" type="slidenum">
              <a:rPr lang="en-IN" smtClean="0"/>
              <a:t>‹#›</a:t>
            </a:fld>
            <a:endParaRPr lang="en-IN"/>
          </a:p>
        </p:txBody>
      </p:sp>
    </p:spTree>
    <p:extLst>
      <p:ext uri="{BB962C8B-B14F-4D97-AF65-F5344CB8AC3E}">
        <p14:creationId xmlns:p14="http://schemas.microsoft.com/office/powerpoint/2010/main" val="1273385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C2CD95-01E4-4B67-A4CE-5EF9C2CF3178}"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D19A97-9844-44BA-81F5-EBFE59EBBEA0}" type="slidenum">
              <a:rPr lang="en-IN" smtClean="0"/>
              <a:t>‹#›</a:t>
            </a:fld>
            <a:endParaRPr lang="en-IN"/>
          </a:p>
        </p:txBody>
      </p:sp>
    </p:spTree>
    <p:extLst>
      <p:ext uri="{BB962C8B-B14F-4D97-AF65-F5344CB8AC3E}">
        <p14:creationId xmlns:p14="http://schemas.microsoft.com/office/powerpoint/2010/main" val="2648109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C2CD95-01E4-4B67-A4CE-5EF9C2CF3178}"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D19A97-9844-44BA-81F5-EBFE59EBBEA0}" type="slidenum">
              <a:rPr lang="en-IN" smtClean="0"/>
              <a:t>‹#›</a:t>
            </a:fld>
            <a:endParaRPr lang="en-IN"/>
          </a:p>
        </p:txBody>
      </p:sp>
    </p:spTree>
    <p:extLst>
      <p:ext uri="{BB962C8B-B14F-4D97-AF65-F5344CB8AC3E}">
        <p14:creationId xmlns:p14="http://schemas.microsoft.com/office/powerpoint/2010/main" val="4209667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BC2CD95-01E4-4B67-A4CE-5EF9C2CF3178}" type="datetimeFigureOut">
              <a:rPr lang="en-IN" smtClean="0"/>
              <a:t>01-05-2025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0D19A97-9844-44BA-81F5-EBFE59EBBEA0}" type="slidenum">
              <a:rPr lang="en-IN" smtClean="0"/>
              <a:t>‹#›</a:t>
            </a:fld>
            <a:endParaRPr lang="en-IN"/>
          </a:p>
        </p:txBody>
      </p:sp>
    </p:spTree>
    <p:extLst>
      <p:ext uri="{BB962C8B-B14F-4D97-AF65-F5344CB8AC3E}">
        <p14:creationId xmlns:p14="http://schemas.microsoft.com/office/powerpoint/2010/main" val="178807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BC2CD95-01E4-4B67-A4CE-5EF9C2CF3178}" type="datetimeFigureOut">
              <a:rPr lang="en-IN" smtClean="0"/>
              <a:t>01-05-2025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0D19A97-9844-44BA-81F5-EBFE59EBBEA0}" type="slidenum">
              <a:rPr lang="en-IN" smtClean="0"/>
              <a:t>‹#›</a:t>
            </a:fld>
            <a:endParaRPr lang="en-IN"/>
          </a:p>
        </p:txBody>
      </p:sp>
    </p:spTree>
    <p:extLst>
      <p:ext uri="{BB962C8B-B14F-4D97-AF65-F5344CB8AC3E}">
        <p14:creationId xmlns:p14="http://schemas.microsoft.com/office/powerpoint/2010/main" val="903675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C2CD95-01E4-4B67-A4CE-5EF9C2CF3178}" type="datetimeFigureOut">
              <a:rPr lang="en-IN" smtClean="0"/>
              <a:t>01-05-2025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0D19A97-9844-44BA-81F5-EBFE59EBBEA0}" type="slidenum">
              <a:rPr lang="en-IN" smtClean="0"/>
              <a:t>‹#›</a:t>
            </a:fld>
            <a:endParaRPr lang="en-IN"/>
          </a:p>
        </p:txBody>
      </p:sp>
    </p:spTree>
    <p:extLst>
      <p:ext uri="{BB962C8B-B14F-4D97-AF65-F5344CB8AC3E}">
        <p14:creationId xmlns:p14="http://schemas.microsoft.com/office/powerpoint/2010/main" val="3861697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C2CD95-01E4-4B67-A4CE-5EF9C2CF3178}"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D19A97-9844-44BA-81F5-EBFE59EBBEA0}" type="slidenum">
              <a:rPr lang="en-IN" smtClean="0"/>
              <a:t>‹#›</a:t>
            </a:fld>
            <a:endParaRPr lang="en-IN"/>
          </a:p>
        </p:txBody>
      </p:sp>
    </p:spTree>
    <p:extLst>
      <p:ext uri="{BB962C8B-B14F-4D97-AF65-F5344CB8AC3E}">
        <p14:creationId xmlns:p14="http://schemas.microsoft.com/office/powerpoint/2010/main" val="2838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C2CD95-01E4-4B67-A4CE-5EF9C2CF3178}"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D19A97-9844-44BA-81F5-EBFE59EBBEA0}" type="slidenum">
              <a:rPr lang="en-IN" smtClean="0"/>
              <a:t>‹#›</a:t>
            </a:fld>
            <a:endParaRPr lang="en-IN"/>
          </a:p>
        </p:txBody>
      </p:sp>
    </p:spTree>
    <p:extLst>
      <p:ext uri="{BB962C8B-B14F-4D97-AF65-F5344CB8AC3E}">
        <p14:creationId xmlns:p14="http://schemas.microsoft.com/office/powerpoint/2010/main" val="2482914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C2CD95-01E4-4B67-A4CE-5EF9C2CF3178}"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D19A97-9844-44BA-81F5-EBFE59EBBEA0}" type="slidenum">
              <a:rPr lang="en-IN" smtClean="0"/>
              <a:t>‹#›</a:t>
            </a:fld>
            <a:endParaRPr lang="en-IN"/>
          </a:p>
        </p:txBody>
      </p:sp>
    </p:spTree>
    <p:extLst>
      <p:ext uri="{BB962C8B-B14F-4D97-AF65-F5344CB8AC3E}">
        <p14:creationId xmlns:p14="http://schemas.microsoft.com/office/powerpoint/2010/main" val="1238319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C2CD95-01E4-4B67-A4CE-5EF9C2CF3178}"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D19A97-9844-44BA-81F5-EBFE59EBBEA0}" type="slidenum">
              <a:rPr lang="en-IN" smtClean="0"/>
              <a:t>‹#›</a:t>
            </a:fld>
            <a:endParaRPr lang="en-IN"/>
          </a:p>
        </p:txBody>
      </p:sp>
    </p:spTree>
    <p:extLst>
      <p:ext uri="{BB962C8B-B14F-4D97-AF65-F5344CB8AC3E}">
        <p14:creationId xmlns:p14="http://schemas.microsoft.com/office/powerpoint/2010/main" val="239032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C2CD95-01E4-4B67-A4CE-5EF9C2CF3178}"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D19A97-9844-44BA-81F5-EBFE59EBBEA0}"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773405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C2CD95-01E4-4B67-A4CE-5EF9C2CF3178}"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D19A97-9844-44BA-81F5-EBFE59EBBEA0}" type="slidenum">
              <a:rPr lang="en-IN" smtClean="0"/>
              <a:t>‹#›</a:t>
            </a:fld>
            <a:endParaRPr lang="en-IN"/>
          </a:p>
        </p:txBody>
      </p:sp>
    </p:spTree>
    <p:extLst>
      <p:ext uri="{BB962C8B-B14F-4D97-AF65-F5344CB8AC3E}">
        <p14:creationId xmlns:p14="http://schemas.microsoft.com/office/powerpoint/2010/main" val="15002309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BC2CD95-01E4-4B67-A4CE-5EF9C2CF3178}" type="datetimeFigureOut">
              <a:rPr lang="en-IN" smtClean="0"/>
              <a:t>01-05-2025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0D19A97-9844-44BA-81F5-EBFE59EBBEA0}" type="slidenum">
              <a:rPr lang="en-IN" smtClean="0"/>
              <a:t>‹#›</a:t>
            </a:fld>
            <a:endParaRPr lang="en-IN"/>
          </a:p>
        </p:txBody>
      </p:sp>
    </p:spTree>
    <p:extLst>
      <p:ext uri="{BB962C8B-B14F-4D97-AF65-F5344CB8AC3E}">
        <p14:creationId xmlns:p14="http://schemas.microsoft.com/office/powerpoint/2010/main" val="423894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BC2CD95-01E4-4B67-A4CE-5EF9C2CF3178}" type="datetimeFigureOut">
              <a:rPr lang="en-IN" smtClean="0"/>
              <a:t>01-05-2025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0D19A97-9844-44BA-81F5-EBFE59EBBEA0}" type="slidenum">
              <a:rPr lang="en-IN" smtClean="0"/>
              <a:t>‹#›</a:t>
            </a:fld>
            <a:endParaRPr lang="en-IN"/>
          </a:p>
        </p:txBody>
      </p:sp>
    </p:spTree>
    <p:extLst>
      <p:ext uri="{BB962C8B-B14F-4D97-AF65-F5344CB8AC3E}">
        <p14:creationId xmlns:p14="http://schemas.microsoft.com/office/powerpoint/2010/main" val="9898335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C2CD95-01E4-4B67-A4CE-5EF9C2CF3178}"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D19A97-9844-44BA-81F5-EBFE59EBBEA0}" type="slidenum">
              <a:rPr lang="en-IN" smtClean="0"/>
              <a:t>‹#›</a:t>
            </a:fld>
            <a:endParaRPr lang="en-IN"/>
          </a:p>
        </p:txBody>
      </p:sp>
    </p:spTree>
    <p:extLst>
      <p:ext uri="{BB962C8B-B14F-4D97-AF65-F5344CB8AC3E}">
        <p14:creationId xmlns:p14="http://schemas.microsoft.com/office/powerpoint/2010/main" val="41020384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C2CD95-01E4-4B67-A4CE-5EF9C2CF3178}"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D19A97-9844-44BA-81F5-EBFE59EBBEA0}" type="slidenum">
              <a:rPr lang="en-IN" smtClean="0"/>
              <a:t>‹#›</a:t>
            </a:fld>
            <a:endParaRPr lang="en-IN"/>
          </a:p>
        </p:txBody>
      </p:sp>
    </p:spTree>
    <p:extLst>
      <p:ext uri="{BB962C8B-B14F-4D97-AF65-F5344CB8AC3E}">
        <p14:creationId xmlns:p14="http://schemas.microsoft.com/office/powerpoint/2010/main" val="1669138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7BC2CD95-01E4-4B67-A4CE-5EF9C2CF3178}" type="datetimeFigureOut">
              <a:rPr lang="en-IN" smtClean="0"/>
              <a:t>01-05-2025</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00D19A97-9844-44BA-81F5-EBFE59EBBEA0}" type="slidenum">
              <a:rPr lang="en-IN" smtClean="0"/>
              <a:t>‹#›</a:t>
            </a:fld>
            <a:endParaRPr lang="en-IN"/>
          </a:p>
        </p:txBody>
      </p:sp>
    </p:spTree>
    <p:extLst>
      <p:ext uri="{BB962C8B-B14F-4D97-AF65-F5344CB8AC3E}">
        <p14:creationId xmlns:p14="http://schemas.microsoft.com/office/powerpoint/2010/main" val="2554881082"/>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6DCC4-B9AD-7AD2-FB42-0F0D9CE5C4FE}"/>
              </a:ext>
            </a:extLst>
          </p:cNvPr>
          <p:cNvSpPr>
            <a:spLocks noGrp="1"/>
          </p:cNvSpPr>
          <p:nvPr>
            <p:ph type="ctrTitle"/>
          </p:nvPr>
        </p:nvSpPr>
        <p:spPr>
          <a:xfrm>
            <a:off x="1683760" y="1653305"/>
            <a:ext cx="9001462" cy="2387600"/>
          </a:xfrm>
        </p:spPr>
        <p:txBody>
          <a:bodyPr/>
          <a:lstStyle/>
          <a:p>
            <a:r>
              <a:rPr lang="en-US" dirty="0"/>
              <a:t>Configuring S3 Event Notifications with SNS</a:t>
            </a:r>
            <a:endParaRPr lang="en-IN" dirty="0"/>
          </a:p>
        </p:txBody>
      </p:sp>
    </p:spTree>
    <p:extLst>
      <p:ext uri="{BB962C8B-B14F-4D97-AF65-F5344CB8AC3E}">
        <p14:creationId xmlns:p14="http://schemas.microsoft.com/office/powerpoint/2010/main" val="69379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69E49-EC90-B4F3-0DD2-8DA3ECCECA91}"/>
              </a:ext>
            </a:extLst>
          </p:cNvPr>
          <p:cNvSpPr>
            <a:spLocks noGrp="1"/>
          </p:cNvSpPr>
          <p:nvPr>
            <p:ph type="title"/>
          </p:nvPr>
        </p:nvSpPr>
        <p:spPr/>
        <p:txBody>
          <a:bodyPr/>
          <a:lstStyle/>
          <a:p>
            <a:pPr algn="l"/>
            <a:r>
              <a:rPr lang="en-IN" u="sng" dirty="0"/>
              <a:t>Objective</a:t>
            </a:r>
            <a:r>
              <a:rPr lang="en-IN" dirty="0"/>
              <a:t>:-</a:t>
            </a:r>
          </a:p>
        </p:txBody>
      </p:sp>
      <p:sp>
        <p:nvSpPr>
          <p:cNvPr id="3" name="Content Placeholder 2">
            <a:extLst>
              <a:ext uri="{FF2B5EF4-FFF2-40B4-BE49-F238E27FC236}">
                <a16:creationId xmlns:a16="http://schemas.microsoft.com/office/drawing/2014/main" id="{BE0D5E43-8EE6-2A0A-2B85-9A550540685F}"/>
              </a:ext>
            </a:extLst>
          </p:cNvPr>
          <p:cNvSpPr>
            <a:spLocks noGrp="1"/>
          </p:cNvSpPr>
          <p:nvPr>
            <p:ph idx="1"/>
          </p:nvPr>
        </p:nvSpPr>
        <p:spPr/>
        <p:txBody>
          <a:bodyPr/>
          <a:lstStyle/>
          <a:p>
            <a:pPr algn="just"/>
            <a:r>
              <a:rPr lang="en-US" dirty="0">
                <a:latin typeface="+mj-lt"/>
              </a:rPr>
              <a:t>The goal of this project is to implement an automated, event-driven architecture using Amazon S3, Amazon SNS (Simple Notification Service), and Amazon SQS (Simple Queue Service). By configuring S3 to trigger notifications for specific events—such as file uploads, deletions, or modifications—and routing those events through an SNS topic to an SQS queue, this setup enables real-time alerting, decoupled message processing, and scalable downstream integrations</a:t>
            </a:r>
            <a:r>
              <a:rPr lang="en-US" dirty="0"/>
              <a:t>.</a:t>
            </a:r>
            <a:endParaRPr lang="en-IN" dirty="0"/>
          </a:p>
        </p:txBody>
      </p:sp>
    </p:spTree>
    <p:extLst>
      <p:ext uri="{BB962C8B-B14F-4D97-AF65-F5344CB8AC3E}">
        <p14:creationId xmlns:p14="http://schemas.microsoft.com/office/powerpoint/2010/main" val="1187433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FA79D-C94E-BAF1-2A72-CC60128E55DB}"/>
              </a:ext>
            </a:extLst>
          </p:cNvPr>
          <p:cNvSpPr>
            <a:spLocks noGrp="1"/>
          </p:cNvSpPr>
          <p:nvPr>
            <p:ph type="title"/>
          </p:nvPr>
        </p:nvSpPr>
        <p:spPr/>
        <p:txBody>
          <a:bodyPr/>
          <a:lstStyle/>
          <a:p>
            <a:pPr algn="l"/>
            <a:r>
              <a:rPr lang="en-IN" u="sng" dirty="0"/>
              <a:t>Scope of project</a:t>
            </a:r>
            <a:r>
              <a:rPr lang="en-IN" dirty="0"/>
              <a:t>:-</a:t>
            </a:r>
          </a:p>
        </p:txBody>
      </p:sp>
      <p:sp>
        <p:nvSpPr>
          <p:cNvPr id="3" name="Content Placeholder 2">
            <a:extLst>
              <a:ext uri="{FF2B5EF4-FFF2-40B4-BE49-F238E27FC236}">
                <a16:creationId xmlns:a16="http://schemas.microsoft.com/office/drawing/2014/main" id="{A8660FE9-D4D4-41F0-0425-33E612E178CE}"/>
              </a:ext>
            </a:extLst>
          </p:cNvPr>
          <p:cNvSpPr>
            <a:spLocks noGrp="1"/>
          </p:cNvSpPr>
          <p:nvPr>
            <p:ph idx="1"/>
          </p:nvPr>
        </p:nvSpPr>
        <p:spPr/>
        <p:txBody>
          <a:bodyPr/>
          <a:lstStyle/>
          <a:p>
            <a:r>
              <a:rPr lang="en-US" dirty="0">
                <a:latin typeface="+mj-lt"/>
              </a:rPr>
              <a:t>Set up an Amazon S3 bucket.</a:t>
            </a:r>
          </a:p>
          <a:p>
            <a:r>
              <a:rPr lang="en-US" dirty="0">
                <a:latin typeface="+mj-lt"/>
              </a:rPr>
              <a:t>Create an Amazon SNS topic.</a:t>
            </a:r>
          </a:p>
          <a:p>
            <a:r>
              <a:rPr lang="en-US" dirty="0">
                <a:latin typeface="+mj-lt"/>
              </a:rPr>
              <a:t>Link S3 event notifications to SNS.</a:t>
            </a:r>
          </a:p>
          <a:p>
            <a:r>
              <a:rPr lang="en-US" dirty="0">
                <a:latin typeface="+mj-lt"/>
              </a:rPr>
              <a:t>Create an Amazon SQS queue and subscribe it to the SNS topic.</a:t>
            </a:r>
          </a:p>
          <a:p>
            <a:r>
              <a:rPr lang="en-US" dirty="0">
                <a:latin typeface="+mj-lt"/>
              </a:rPr>
              <a:t>Test by uploading/deleting objects in S3.</a:t>
            </a:r>
          </a:p>
          <a:p>
            <a:r>
              <a:rPr lang="en-US" dirty="0">
                <a:latin typeface="+mj-lt"/>
              </a:rPr>
              <a:t>Verify message delivery from S3 → SNS → SQS.</a:t>
            </a:r>
            <a:endParaRPr lang="en-IN" dirty="0">
              <a:latin typeface="+mj-lt"/>
            </a:endParaRPr>
          </a:p>
        </p:txBody>
      </p:sp>
    </p:spTree>
    <p:extLst>
      <p:ext uri="{BB962C8B-B14F-4D97-AF65-F5344CB8AC3E}">
        <p14:creationId xmlns:p14="http://schemas.microsoft.com/office/powerpoint/2010/main" val="35753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6EF6B-8885-C54B-D800-D858B292D499}"/>
              </a:ext>
            </a:extLst>
          </p:cNvPr>
          <p:cNvSpPr>
            <a:spLocks noGrp="1"/>
          </p:cNvSpPr>
          <p:nvPr>
            <p:ph type="title"/>
          </p:nvPr>
        </p:nvSpPr>
        <p:spPr>
          <a:xfrm>
            <a:off x="363794" y="0"/>
            <a:ext cx="10353761" cy="1326321"/>
          </a:xfrm>
        </p:spPr>
        <p:txBody>
          <a:bodyPr/>
          <a:lstStyle/>
          <a:p>
            <a:pPr algn="l"/>
            <a:r>
              <a:rPr lang="en-IN" u="sng" dirty="0"/>
              <a:t>List of services integrated</a:t>
            </a:r>
            <a:r>
              <a:rPr lang="en-IN" dirty="0"/>
              <a:t>:-</a:t>
            </a:r>
          </a:p>
        </p:txBody>
      </p:sp>
      <p:sp>
        <p:nvSpPr>
          <p:cNvPr id="3" name="Content Placeholder 2">
            <a:extLst>
              <a:ext uri="{FF2B5EF4-FFF2-40B4-BE49-F238E27FC236}">
                <a16:creationId xmlns:a16="http://schemas.microsoft.com/office/drawing/2014/main" id="{231AA397-F585-9199-2009-8ED856C79FFA}"/>
              </a:ext>
            </a:extLst>
          </p:cNvPr>
          <p:cNvSpPr>
            <a:spLocks noGrp="1"/>
          </p:cNvSpPr>
          <p:nvPr>
            <p:ph idx="1"/>
          </p:nvPr>
        </p:nvSpPr>
        <p:spPr>
          <a:xfrm>
            <a:off x="363794" y="1484672"/>
            <a:ext cx="10903762" cy="5073444"/>
          </a:xfrm>
        </p:spPr>
        <p:txBody>
          <a:bodyPr>
            <a:normAutofit/>
          </a:bodyPr>
          <a:lstStyle/>
          <a:p>
            <a:pPr marL="457200" indent="-457200">
              <a:buFont typeface="+mj-lt"/>
              <a:buAutoNum type="arabicPeriod"/>
            </a:pPr>
            <a:r>
              <a:rPr lang="en-US" b="1" u="sng" dirty="0"/>
              <a:t> </a:t>
            </a:r>
            <a:r>
              <a:rPr lang="en-US" b="1" u="sng" dirty="0">
                <a:latin typeface="+mj-lt"/>
              </a:rPr>
              <a:t>Amazon S3 (Simple Storage Service)</a:t>
            </a:r>
            <a:r>
              <a:rPr lang="en-US" u="sng" dirty="0">
                <a:latin typeface="+mj-lt"/>
              </a:rPr>
              <a:t>:</a:t>
            </a:r>
          </a:p>
          <a:p>
            <a:pPr lvl="1"/>
            <a:r>
              <a:rPr lang="en-US" b="1" dirty="0">
                <a:latin typeface="+mj-lt"/>
              </a:rPr>
              <a:t>Primary Service</a:t>
            </a:r>
            <a:r>
              <a:rPr lang="en-US" dirty="0">
                <a:latin typeface="+mj-lt"/>
              </a:rPr>
              <a:t> where the events (such as file uploads, deletions, or modifications) are triggered.</a:t>
            </a:r>
          </a:p>
          <a:p>
            <a:pPr lvl="1"/>
            <a:r>
              <a:rPr lang="en-US" dirty="0">
                <a:latin typeface="+mj-lt"/>
              </a:rPr>
              <a:t>S3 event notifications will be configured to listen for specific actions within the bucket.</a:t>
            </a:r>
            <a:endParaRPr lang="en-US" u="sng" dirty="0">
              <a:latin typeface="+mj-lt"/>
            </a:endParaRPr>
          </a:p>
          <a:p>
            <a:pPr marL="457200" indent="-457200">
              <a:buFont typeface="+mj-lt"/>
              <a:buAutoNum type="arabicPeriod"/>
            </a:pPr>
            <a:r>
              <a:rPr lang="en-US" b="1" u="sng" dirty="0">
                <a:latin typeface="+mj-lt"/>
              </a:rPr>
              <a:t>Amazon SNS (Simple Notification Service)</a:t>
            </a:r>
            <a:r>
              <a:rPr lang="en-US" u="sng" dirty="0">
                <a:latin typeface="+mj-lt"/>
              </a:rPr>
              <a:t>:</a:t>
            </a:r>
          </a:p>
          <a:p>
            <a:pPr lvl="1"/>
            <a:r>
              <a:rPr lang="en-US" b="1" dirty="0">
                <a:latin typeface="+mj-lt"/>
              </a:rPr>
              <a:t>Notification Service</a:t>
            </a:r>
            <a:r>
              <a:rPr lang="en-US" dirty="0">
                <a:latin typeface="+mj-lt"/>
              </a:rPr>
              <a:t> used to send messages about the events in S3.</a:t>
            </a:r>
          </a:p>
          <a:p>
            <a:pPr lvl="1"/>
            <a:r>
              <a:rPr lang="en-US" dirty="0">
                <a:latin typeface="+mj-lt"/>
              </a:rPr>
              <a:t>SNS topic will be used as the destination for the S3 event notifications, and SNS will forward the message to subscribed endpoints (SQS, email, Lambda, etc.).</a:t>
            </a:r>
            <a:endParaRPr lang="en-US" u="sng" dirty="0"/>
          </a:p>
          <a:p>
            <a:pPr marL="457200" indent="-457200">
              <a:buFont typeface="+mj-lt"/>
              <a:buAutoNum type="arabicPeriod"/>
            </a:pPr>
            <a:r>
              <a:rPr lang="en-IN" b="1" u="sng" dirty="0">
                <a:latin typeface="+mj-lt"/>
              </a:rPr>
              <a:t>Amazon SQS (Simple Queue Service);</a:t>
            </a:r>
          </a:p>
          <a:p>
            <a:pPr lvl="1"/>
            <a:r>
              <a:rPr lang="en-US" b="1" dirty="0">
                <a:latin typeface="+mj-lt"/>
              </a:rPr>
              <a:t>Queueing Service</a:t>
            </a:r>
            <a:r>
              <a:rPr lang="en-US" dirty="0">
                <a:latin typeface="+mj-lt"/>
              </a:rPr>
              <a:t> used to store and manage event messages reliably between services.</a:t>
            </a:r>
          </a:p>
          <a:p>
            <a:pPr lvl="1"/>
            <a:r>
              <a:rPr lang="en-US" dirty="0">
                <a:latin typeface="+mj-lt"/>
              </a:rPr>
              <a:t>SQS will receive messages from the SNS topic (as a subscribed endpoint), allowing for asynchronous processing.</a:t>
            </a:r>
            <a:endParaRPr lang="en-IN" b="1" u="sng" dirty="0">
              <a:latin typeface="+mj-lt"/>
            </a:endParaRPr>
          </a:p>
          <a:p>
            <a:pPr marL="457200" indent="-457200">
              <a:buFont typeface="+mj-lt"/>
              <a:buAutoNum type="arabicPeriod"/>
            </a:pPr>
            <a:endParaRPr lang="en-IN" b="1" u="sng" dirty="0">
              <a:latin typeface="+mj-lt"/>
            </a:endParaRPr>
          </a:p>
          <a:p>
            <a:pPr lvl="1"/>
            <a:endParaRPr lang="en-US" b="1" u="sng" dirty="0">
              <a:latin typeface="+mj-lt"/>
            </a:endParaRPr>
          </a:p>
          <a:p>
            <a:endParaRPr lang="en-IN" dirty="0"/>
          </a:p>
        </p:txBody>
      </p:sp>
    </p:spTree>
    <p:extLst>
      <p:ext uri="{BB962C8B-B14F-4D97-AF65-F5344CB8AC3E}">
        <p14:creationId xmlns:p14="http://schemas.microsoft.com/office/powerpoint/2010/main" val="523607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D27E-52F1-7571-E36C-7A16C4A987CB}"/>
              </a:ext>
            </a:extLst>
          </p:cNvPr>
          <p:cNvSpPr>
            <a:spLocks noGrp="1"/>
          </p:cNvSpPr>
          <p:nvPr>
            <p:ph type="title"/>
          </p:nvPr>
        </p:nvSpPr>
        <p:spPr>
          <a:xfrm>
            <a:off x="919119" y="334296"/>
            <a:ext cx="10353761" cy="1326321"/>
          </a:xfrm>
        </p:spPr>
        <p:txBody>
          <a:bodyPr/>
          <a:lstStyle/>
          <a:p>
            <a:pPr algn="l"/>
            <a:r>
              <a:rPr lang="en-IN" dirty="0"/>
              <a:t>Create </a:t>
            </a:r>
            <a:r>
              <a:rPr lang="en-IN" dirty="0" err="1"/>
              <a:t>sns</a:t>
            </a:r>
            <a:r>
              <a:rPr lang="en-IN" dirty="0"/>
              <a:t>(simple notification service):-</a:t>
            </a:r>
          </a:p>
        </p:txBody>
      </p:sp>
      <p:pic>
        <p:nvPicPr>
          <p:cNvPr id="5" name="Content Placeholder 4">
            <a:extLst>
              <a:ext uri="{FF2B5EF4-FFF2-40B4-BE49-F238E27FC236}">
                <a16:creationId xmlns:a16="http://schemas.microsoft.com/office/drawing/2014/main" id="{1E4040B8-9E53-A03A-F02B-A41A109E535B}"/>
              </a:ext>
            </a:extLst>
          </p:cNvPr>
          <p:cNvPicPr>
            <a:picLocks noGrp="1" noChangeAspect="1"/>
          </p:cNvPicPr>
          <p:nvPr>
            <p:ph idx="1"/>
          </p:nvPr>
        </p:nvPicPr>
        <p:blipFill>
          <a:blip r:embed="rId2"/>
          <a:stretch>
            <a:fillRect/>
          </a:stretch>
        </p:blipFill>
        <p:spPr>
          <a:xfrm>
            <a:off x="924444" y="1837599"/>
            <a:ext cx="9852619" cy="4815113"/>
          </a:xfrm>
        </p:spPr>
      </p:pic>
    </p:spTree>
    <p:extLst>
      <p:ext uri="{BB962C8B-B14F-4D97-AF65-F5344CB8AC3E}">
        <p14:creationId xmlns:p14="http://schemas.microsoft.com/office/powerpoint/2010/main" val="1298031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FBF8A-F96D-1F9E-672C-B0C0DD7C69FB}"/>
              </a:ext>
            </a:extLst>
          </p:cNvPr>
          <p:cNvSpPr>
            <a:spLocks noGrp="1"/>
          </p:cNvSpPr>
          <p:nvPr>
            <p:ph type="title"/>
          </p:nvPr>
        </p:nvSpPr>
        <p:spPr>
          <a:xfrm>
            <a:off x="533728" y="152402"/>
            <a:ext cx="10353761" cy="1326321"/>
          </a:xfrm>
        </p:spPr>
        <p:txBody>
          <a:bodyPr/>
          <a:lstStyle/>
          <a:p>
            <a:pPr algn="just"/>
            <a:r>
              <a:rPr lang="en-IN" dirty="0"/>
              <a:t>Create S3 bucket:-</a:t>
            </a:r>
          </a:p>
        </p:txBody>
      </p:sp>
      <p:pic>
        <p:nvPicPr>
          <p:cNvPr id="4" name="Content Placeholder 4">
            <a:extLst>
              <a:ext uri="{FF2B5EF4-FFF2-40B4-BE49-F238E27FC236}">
                <a16:creationId xmlns:a16="http://schemas.microsoft.com/office/drawing/2014/main" id="{AA1E52B6-1158-F091-C7D2-C1B031C045E0}"/>
              </a:ext>
            </a:extLst>
          </p:cNvPr>
          <p:cNvPicPr>
            <a:picLocks noGrp="1" noChangeAspect="1"/>
          </p:cNvPicPr>
          <p:nvPr>
            <p:ph idx="1"/>
          </p:nvPr>
        </p:nvPicPr>
        <p:blipFill>
          <a:blip r:embed="rId2"/>
          <a:stretch>
            <a:fillRect/>
          </a:stretch>
        </p:blipFill>
        <p:spPr>
          <a:xfrm>
            <a:off x="533728" y="1457869"/>
            <a:ext cx="10832362" cy="5247729"/>
          </a:xfrm>
        </p:spPr>
      </p:pic>
    </p:spTree>
    <p:extLst>
      <p:ext uri="{BB962C8B-B14F-4D97-AF65-F5344CB8AC3E}">
        <p14:creationId xmlns:p14="http://schemas.microsoft.com/office/powerpoint/2010/main" val="276720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ECBDF-20E9-6E2C-A2E6-0ACCA907B1AE}"/>
              </a:ext>
            </a:extLst>
          </p:cNvPr>
          <p:cNvSpPr>
            <a:spLocks noGrp="1"/>
          </p:cNvSpPr>
          <p:nvPr>
            <p:ph type="title"/>
          </p:nvPr>
        </p:nvSpPr>
        <p:spPr>
          <a:xfrm>
            <a:off x="452284" y="192600"/>
            <a:ext cx="10353761" cy="1326321"/>
          </a:xfrm>
        </p:spPr>
        <p:txBody>
          <a:bodyPr/>
          <a:lstStyle/>
          <a:p>
            <a:pPr algn="l"/>
            <a:r>
              <a:rPr lang="en-IN" dirty="0"/>
              <a:t>Create SQS(simple query service)</a:t>
            </a:r>
          </a:p>
        </p:txBody>
      </p:sp>
      <p:pic>
        <p:nvPicPr>
          <p:cNvPr id="5" name="Content Placeholder 4">
            <a:extLst>
              <a:ext uri="{FF2B5EF4-FFF2-40B4-BE49-F238E27FC236}">
                <a16:creationId xmlns:a16="http://schemas.microsoft.com/office/drawing/2014/main" id="{86F375DA-3288-40F7-6B43-AD34D1D287EC}"/>
              </a:ext>
            </a:extLst>
          </p:cNvPr>
          <p:cNvPicPr>
            <a:picLocks noGrp="1" noChangeAspect="1"/>
          </p:cNvPicPr>
          <p:nvPr>
            <p:ph idx="1"/>
          </p:nvPr>
        </p:nvPicPr>
        <p:blipFill>
          <a:blip r:embed="rId2"/>
          <a:stretch>
            <a:fillRect/>
          </a:stretch>
        </p:blipFill>
        <p:spPr>
          <a:xfrm>
            <a:off x="452284" y="1221448"/>
            <a:ext cx="11277600" cy="5443952"/>
          </a:xfrm>
        </p:spPr>
      </p:pic>
    </p:spTree>
    <p:extLst>
      <p:ext uri="{BB962C8B-B14F-4D97-AF65-F5344CB8AC3E}">
        <p14:creationId xmlns:p14="http://schemas.microsoft.com/office/powerpoint/2010/main" val="3063947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A35B5-2516-50E7-90E5-B389E7FED011}"/>
              </a:ext>
            </a:extLst>
          </p:cNvPr>
          <p:cNvSpPr>
            <a:spLocks noGrp="1"/>
          </p:cNvSpPr>
          <p:nvPr>
            <p:ph type="title"/>
          </p:nvPr>
        </p:nvSpPr>
        <p:spPr>
          <a:xfrm>
            <a:off x="461376" y="196116"/>
            <a:ext cx="10353761" cy="1326321"/>
          </a:xfrm>
        </p:spPr>
        <p:txBody>
          <a:bodyPr>
            <a:normAutofit fontScale="90000"/>
          </a:bodyPr>
          <a:lstStyle/>
          <a:p>
            <a:pPr algn="l"/>
            <a:r>
              <a:rPr lang="en-US" dirty="0"/>
              <a:t>Update the </a:t>
            </a:r>
            <a:r>
              <a:rPr lang="en-US" dirty="0" err="1"/>
              <a:t>SqS</a:t>
            </a:r>
            <a:r>
              <a:rPr lang="en-US" dirty="0"/>
              <a:t> access policy to allow the S3 bucket to publish event notifications.:-</a:t>
            </a:r>
            <a:endParaRPr lang="en-IN" dirty="0"/>
          </a:p>
        </p:txBody>
      </p:sp>
      <p:sp>
        <p:nvSpPr>
          <p:cNvPr id="4" name="Content Placeholder 3">
            <a:extLst>
              <a:ext uri="{FF2B5EF4-FFF2-40B4-BE49-F238E27FC236}">
                <a16:creationId xmlns:a16="http://schemas.microsoft.com/office/drawing/2014/main" id="{2EDADDF2-C4F8-B400-BF7C-B5AEDA9AE2AC}"/>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C8FA1D57-DF3D-1653-57A8-116689127281}"/>
              </a:ext>
            </a:extLst>
          </p:cNvPr>
          <p:cNvPicPr>
            <a:picLocks noChangeAspect="1"/>
          </p:cNvPicPr>
          <p:nvPr/>
        </p:nvPicPr>
        <p:blipFill>
          <a:blip r:embed="rId2"/>
          <a:stretch>
            <a:fillRect/>
          </a:stretch>
        </p:blipFill>
        <p:spPr>
          <a:xfrm>
            <a:off x="461376" y="1595201"/>
            <a:ext cx="11189850" cy="5216387"/>
          </a:xfrm>
          <a:prstGeom prst="rect">
            <a:avLst/>
          </a:prstGeom>
        </p:spPr>
      </p:pic>
    </p:spTree>
    <p:extLst>
      <p:ext uri="{BB962C8B-B14F-4D97-AF65-F5344CB8AC3E}">
        <p14:creationId xmlns:p14="http://schemas.microsoft.com/office/powerpoint/2010/main" val="2079474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3E67C-B291-4B9A-9FEE-DAF8231A7895}"/>
              </a:ext>
            </a:extLst>
          </p:cNvPr>
          <p:cNvSpPr>
            <a:spLocks noGrp="1"/>
          </p:cNvSpPr>
          <p:nvPr>
            <p:ph type="title"/>
          </p:nvPr>
        </p:nvSpPr>
        <p:spPr>
          <a:xfrm>
            <a:off x="471948" y="135645"/>
            <a:ext cx="10353761" cy="1326321"/>
          </a:xfrm>
        </p:spPr>
        <p:txBody>
          <a:bodyPr/>
          <a:lstStyle/>
          <a:p>
            <a:pPr algn="just"/>
            <a:r>
              <a:rPr lang="en-IN" dirty="0"/>
              <a:t>Create subscription:-</a:t>
            </a:r>
          </a:p>
        </p:txBody>
      </p:sp>
      <p:pic>
        <p:nvPicPr>
          <p:cNvPr id="9" name="Content Placeholder 8">
            <a:extLst>
              <a:ext uri="{FF2B5EF4-FFF2-40B4-BE49-F238E27FC236}">
                <a16:creationId xmlns:a16="http://schemas.microsoft.com/office/drawing/2014/main" id="{54A48AF2-4E7A-B54A-99C8-B52C0D2D88C1}"/>
              </a:ext>
            </a:extLst>
          </p:cNvPr>
          <p:cNvPicPr>
            <a:picLocks noGrp="1" noChangeAspect="1"/>
          </p:cNvPicPr>
          <p:nvPr>
            <p:ph idx="1"/>
          </p:nvPr>
        </p:nvPicPr>
        <p:blipFill>
          <a:blip r:embed="rId2"/>
          <a:stretch>
            <a:fillRect/>
          </a:stretch>
        </p:blipFill>
        <p:spPr>
          <a:xfrm>
            <a:off x="471948" y="1226195"/>
            <a:ext cx="11248104" cy="5496160"/>
          </a:xfrm>
        </p:spPr>
      </p:pic>
    </p:spTree>
    <p:extLst>
      <p:ext uri="{BB962C8B-B14F-4D97-AF65-F5344CB8AC3E}">
        <p14:creationId xmlns:p14="http://schemas.microsoft.com/office/powerpoint/2010/main" val="304001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6649C3F-7A51-831C-9509-0B29FE2DBEF7}"/>
              </a:ext>
            </a:extLst>
          </p:cNvPr>
          <p:cNvPicPr>
            <a:picLocks noGrp="1" noChangeAspect="1"/>
          </p:cNvPicPr>
          <p:nvPr>
            <p:ph idx="1"/>
          </p:nvPr>
        </p:nvPicPr>
        <p:blipFill>
          <a:blip r:embed="rId2"/>
          <a:stretch>
            <a:fillRect/>
          </a:stretch>
        </p:blipFill>
        <p:spPr>
          <a:xfrm>
            <a:off x="278405" y="747252"/>
            <a:ext cx="11447006" cy="5525728"/>
          </a:xfrm>
        </p:spPr>
      </p:pic>
    </p:spTree>
    <p:extLst>
      <p:ext uri="{BB962C8B-B14F-4D97-AF65-F5344CB8AC3E}">
        <p14:creationId xmlns:p14="http://schemas.microsoft.com/office/powerpoint/2010/main" val="2852495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DF90E-94E0-6DDE-3A5D-201ACF826FE1}"/>
              </a:ext>
            </a:extLst>
          </p:cNvPr>
          <p:cNvSpPr>
            <a:spLocks noGrp="1"/>
          </p:cNvSpPr>
          <p:nvPr>
            <p:ph type="title"/>
          </p:nvPr>
        </p:nvSpPr>
        <p:spPr>
          <a:xfrm>
            <a:off x="629264" y="235124"/>
            <a:ext cx="10353761" cy="1326321"/>
          </a:xfrm>
        </p:spPr>
        <p:txBody>
          <a:bodyPr/>
          <a:lstStyle/>
          <a:p>
            <a:pPr algn="l"/>
            <a:r>
              <a:rPr lang="en-US" dirty="0"/>
              <a:t>Add SQS as a Notification Destination for S3 Bucket Events:-</a:t>
            </a:r>
            <a:endParaRPr lang="en-IN" dirty="0"/>
          </a:p>
        </p:txBody>
      </p:sp>
      <p:pic>
        <p:nvPicPr>
          <p:cNvPr id="5" name="Content Placeholder 4">
            <a:extLst>
              <a:ext uri="{FF2B5EF4-FFF2-40B4-BE49-F238E27FC236}">
                <a16:creationId xmlns:a16="http://schemas.microsoft.com/office/drawing/2014/main" id="{CACDD2F5-2346-37AB-F57E-34FDB9AD64D3}"/>
              </a:ext>
            </a:extLst>
          </p:cNvPr>
          <p:cNvPicPr>
            <a:picLocks noGrp="1" noChangeAspect="1"/>
          </p:cNvPicPr>
          <p:nvPr>
            <p:ph idx="1"/>
          </p:nvPr>
        </p:nvPicPr>
        <p:blipFill>
          <a:blip r:embed="rId2"/>
          <a:stretch>
            <a:fillRect/>
          </a:stretch>
        </p:blipFill>
        <p:spPr>
          <a:xfrm>
            <a:off x="629264" y="1542206"/>
            <a:ext cx="10933471" cy="5080245"/>
          </a:xfrm>
        </p:spPr>
      </p:pic>
    </p:spTree>
    <p:extLst>
      <p:ext uri="{BB962C8B-B14F-4D97-AF65-F5344CB8AC3E}">
        <p14:creationId xmlns:p14="http://schemas.microsoft.com/office/powerpoint/2010/main" val="4001865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B11449C-1692-35D7-26EA-BE4BFC5842AF}"/>
              </a:ext>
            </a:extLst>
          </p:cNvPr>
          <p:cNvPicPr>
            <a:picLocks noGrp="1" noChangeAspect="1"/>
          </p:cNvPicPr>
          <p:nvPr>
            <p:ph idx="1"/>
          </p:nvPr>
        </p:nvPicPr>
        <p:blipFill>
          <a:blip r:embed="rId2"/>
          <a:stretch>
            <a:fillRect/>
          </a:stretch>
        </p:blipFill>
        <p:spPr>
          <a:xfrm>
            <a:off x="478539" y="717325"/>
            <a:ext cx="11234922" cy="5423350"/>
          </a:xfrm>
        </p:spPr>
      </p:pic>
    </p:spTree>
    <p:extLst>
      <p:ext uri="{BB962C8B-B14F-4D97-AF65-F5344CB8AC3E}">
        <p14:creationId xmlns:p14="http://schemas.microsoft.com/office/powerpoint/2010/main" val="203980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CE41B-A3CE-DABD-05E4-4938866F416F}"/>
              </a:ext>
            </a:extLst>
          </p:cNvPr>
          <p:cNvSpPr>
            <a:spLocks noGrp="1"/>
          </p:cNvSpPr>
          <p:nvPr>
            <p:ph type="title"/>
          </p:nvPr>
        </p:nvSpPr>
        <p:spPr>
          <a:xfrm>
            <a:off x="452284" y="304800"/>
            <a:ext cx="10353761" cy="1326321"/>
          </a:xfrm>
        </p:spPr>
        <p:txBody>
          <a:bodyPr/>
          <a:lstStyle/>
          <a:p>
            <a:pPr algn="l"/>
            <a:r>
              <a:rPr lang="en-IN" dirty="0"/>
              <a:t>Add files to receive message :-</a:t>
            </a:r>
          </a:p>
        </p:txBody>
      </p:sp>
      <p:pic>
        <p:nvPicPr>
          <p:cNvPr id="5" name="Content Placeholder 4">
            <a:extLst>
              <a:ext uri="{FF2B5EF4-FFF2-40B4-BE49-F238E27FC236}">
                <a16:creationId xmlns:a16="http://schemas.microsoft.com/office/drawing/2014/main" id="{80F5F707-B68F-0B89-3313-1A702DFB6C83}"/>
              </a:ext>
            </a:extLst>
          </p:cNvPr>
          <p:cNvPicPr>
            <a:picLocks noGrp="1" noChangeAspect="1"/>
          </p:cNvPicPr>
          <p:nvPr>
            <p:ph idx="1"/>
          </p:nvPr>
        </p:nvPicPr>
        <p:blipFill>
          <a:blip r:embed="rId2"/>
          <a:stretch>
            <a:fillRect/>
          </a:stretch>
        </p:blipFill>
        <p:spPr>
          <a:xfrm>
            <a:off x="452284" y="1396181"/>
            <a:ext cx="11267768" cy="5272369"/>
          </a:xfrm>
        </p:spPr>
      </p:pic>
    </p:spTree>
    <p:extLst>
      <p:ext uri="{BB962C8B-B14F-4D97-AF65-F5344CB8AC3E}">
        <p14:creationId xmlns:p14="http://schemas.microsoft.com/office/powerpoint/2010/main" val="1888484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3AC6D-A3FC-5A5A-A341-46F8F3169360}"/>
              </a:ext>
            </a:extLst>
          </p:cNvPr>
          <p:cNvSpPr>
            <a:spLocks noGrp="1"/>
          </p:cNvSpPr>
          <p:nvPr>
            <p:ph type="title"/>
          </p:nvPr>
        </p:nvSpPr>
        <p:spPr>
          <a:xfrm>
            <a:off x="613426" y="157316"/>
            <a:ext cx="10353761" cy="1326321"/>
          </a:xfrm>
        </p:spPr>
        <p:txBody>
          <a:bodyPr/>
          <a:lstStyle/>
          <a:p>
            <a:pPr algn="l"/>
            <a:r>
              <a:rPr lang="en-IN" dirty="0"/>
              <a:t>Click on send and receive message:-</a:t>
            </a:r>
          </a:p>
        </p:txBody>
      </p:sp>
      <p:pic>
        <p:nvPicPr>
          <p:cNvPr id="5" name="Content Placeholder 4">
            <a:extLst>
              <a:ext uri="{FF2B5EF4-FFF2-40B4-BE49-F238E27FC236}">
                <a16:creationId xmlns:a16="http://schemas.microsoft.com/office/drawing/2014/main" id="{A5E313AE-DC5E-2C71-F21D-A2B60C999353}"/>
              </a:ext>
            </a:extLst>
          </p:cNvPr>
          <p:cNvPicPr>
            <a:picLocks noGrp="1" noChangeAspect="1"/>
          </p:cNvPicPr>
          <p:nvPr>
            <p:ph idx="1"/>
          </p:nvPr>
        </p:nvPicPr>
        <p:blipFill>
          <a:blip r:embed="rId2"/>
          <a:stretch>
            <a:fillRect/>
          </a:stretch>
        </p:blipFill>
        <p:spPr>
          <a:xfrm>
            <a:off x="613426" y="1273657"/>
            <a:ext cx="11008303" cy="5313956"/>
          </a:xfrm>
        </p:spPr>
      </p:pic>
    </p:spTree>
    <p:extLst>
      <p:ext uri="{BB962C8B-B14F-4D97-AF65-F5344CB8AC3E}">
        <p14:creationId xmlns:p14="http://schemas.microsoft.com/office/powerpoint/2010/main" val="2293418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14E46-5DD4-47D7-293F-659FB1E45B2C}"/>
              </a:ext>
            </a:extLst>
          </p:cNvPr>
          <p:cNvSpPr>
            <a:spLocks noGrp="1"/>
          </p:cNvSpPr>
          <p:nvPr>
            <p:ph type="title"/>
          </p:nvPr>
        </p:nvSpPr>
        <p:spPr>
          <a:xfrm>
            <a:off x="353962" y="145137"/>
            <a:ext cx="10353761" cy="1326321"/>
          </a:xfrm>
        </p:spPr>
        <p:txBody>
          <a:bodyPr/>
          <a:lstStyle/>
          <a:p>
            <a:pPr algn="l"/>
            <a:r>
              <a:rPr lang="en-IN" dirty="0"/>
              <a:t>received message after adding the file:-</a:t>
            </a:r>
          </a:p>
        </p:txBody>
      </p:sp>
      <p:pic>
        <p:nvPicPr>
          <p:cNvPr id="5" name="Content Placeholder 4">
            <a:extLst>
              <a:ext uri="{FF2B5EF4-FFF2-40B4-BE49-F238E27FC236}">
                <a16:creationId xmlns:a16="http://schemas.microsoft.com/office/drawing/2014/main" id="{0F67566E-C38A-05D1-A8B1-CB173768FE01}"/>
              </a:ext>
            </a:extLst>
          </p:cNvPr>
          <p:cNvPicPr>
            <a:picLocks noGrp="1" noChangeAspect="1"/>
          </p:cNvPicPr>
          <p:nvPr>
            <p:ph idx="1"/>
          </p:nvPr>
        </p:nvPicPr>
        <p:blipFill>
          <a:blip r:embed="rId2"/>
          <a:stretch>
            <a:fillRect/>
          </a:stretch>
        </p:blipFill>
        <p:spPr>
          <a:xfrm>
            <a:off x="353962" y="1471457"/>
            <a:ext cx="11621728" cy="5241405"/>
          </a:xfrm>
        </p:spPr>
      </p:pic>
    </p:spTree>
    <p:extLst>
      <p:ext uri="{BB962C8B-B14F-4D97-AF65-F5344CB8AC3E}">
        <p14:creationId xmlns:p14="http://schemas.microsoft.com/office/powerpoint/2010/main" val="3902226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2AEEE-E018-5DED-427A-77368976DB1B}"/>
              </a:ext>
            </a:extLst>
          </p:cNvPr>
          <p:cNvSpPr>
            <a:spLocks noGrp="1"/>
          </p:cNvSpPr>
          <p:nvPr>
            <p:ph type="title"/>
          </p:nvPr>
        </p:nvSpPr>
        <p:spPr>
          <a:xfrm>
            <a:off x="422787" y="187714"/>
            <a:ext cx="10353761" cy="1326321"/>
          </a:xfrm>
        </p:spPr>
        <p:txBody>
          <a:bodyPr/>
          <a:lstStyle/>
          <a:p>
            <a:pPr algn="l"/>
            <a:r>
              <a:rPr lang="en-IN" dirty="0"/>
              <a:t>Delete added file to receive message:-</a:t>
            </a:r>
          </a:p>
        </p:txBody>
      </p:sp>
      <p:pic>
        <p:nvPicPr>
          <p:cNvPr id="7" name="Content Placeholder 6">
            <a:extLst>
              <a:ext uri="{FF2B5EF4-FFF2-40B4-BE49-F238E27FC236}">
                <a16:creationId xmlns:a16="http://schemas.microsoft.com/office/drawing/2014/main" id="{3EC6DCCD-2D5C-E3C1-1CE8-7875BAE5663D}"/>
              </a:ext>
            </a:extLst>
          </p:cNvPr>
          <p:cNvPicPr>
            <a:picLocks noGrp="1" noChangeAspect="1"/>
          </p:cNvPicPr>
          <p:nvPr>
            <p:ph idx="1"/>
          </p:nvPr>
        </p:nvPicPr>
        <p:blipFill>
          <a:blip r:embed="rId2"/>
          <a:stretch>
            <a:fillRect/>
          </a:stretch>
        </p:blipFill>
        <p:spPr>
          <a:xfrm>
            <a:off x="422786" y="1514035"/>
            <a:ext cx="11002297" cy="4966261"/>
          </a:xfrm>
        </p:spPr>
      </p:pic>
    </p:spTree>
    <p:extLst>
      <p:ext uri="{BB962C8B-B14F-4D97-AF65-F5344CB8AC3E}">
        <p14:creationId xmlns:p14="http://schemas.microsoft.com/office/powerpoint/2010/main" val="1478686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133BE-F061-38BE-6BE6-AD71A0957CDA}"/>
              </a:ext>
            </a:extLst>
          </p:cNvPr>
          <p:cNvSpPr>
            <a:spLocks noGrp="1"/>
          </p:cNvSpPr>
          <p:nvPr>
            <p:ph type="title"/>
          </p:nvPr>
        </p:nvSpPr>
        <p:spPr>
          <a:xfrm>
            <a:off x="462116" y="85634"/>
            <a:ext cx="10353761" cy="1326321"/>
          </a:xfrm>
        </p:spPr>
        <p:txBody>
          <a:bodyPr/>
          <a:lstStyle/>
          <a:p>
            <a:pPr algn="l"/>
            <a:r>
              <a:rPr lang="en-IN" dirty="0"/>
              <a:t>Received message after deleting the file:-</a:t>
            </a:r>
          </a:p>
        </p:txBody>
      </p:sp>
      <p:pic>
        <p:nvPicPr>
          <p:cNvPr id="7" name="Content Placeholder 6">
            <a:extLst>
              <a:ext uri="{FF2B5EF4-FFF2-40B4-BE49-F238E27FC236}">
                <a16:creationId xmlns:a16="http://schemas.microsoft.com/office/drawing/2014/main" id="{108C4D31-604E-C4A8-EABA-C5A86CF67690}"/>
              </a:ext>
            </a:extLst>
          </p:cNvPr>
          <p:cNvPicPr>
            <a:picLocks noGrp="1" noChangeAspect="1"/>
          </p:cNvPicPr>
          <p:nvPr>
            <p:ph idx="1"/>
          </p:nvPr>
        </p:nvPicPr>
        <p:blipFill>
          <a:blip r:embed="rId2"/>
          <a:stretch>
            <a:fillRect/>
          </a:stretch>
        </p:blipFill>
        <p:spPr>
          <a:xfrm>
            <a:off x="462116" y="1411955"/>
            <a:ext cx="10646975" cy="5139535"/>
          </a:xfrm>
        </p:spPr>
      </p:pic>
    </p:spTree>
    <p:extLst>
      <p:ext uri="{BB962C8B-B14F-4D97-AF65-F5344CB8AC3E}">
        <p14:creationId xmlns:p14="http://schemas.microsoft.com/office/powerpoint/2010/main" val="735795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1B473-2EEB-3FBD-E770-8DDCB8DFC334}"/>
              </a:ext>
            </a:extLst>
          </p:cNvPr>
          <p:cNvSpPr>
            <a:spLocks noGrp="1"/>
          </p:cNvSpPr>
          <p:nvPr>
            <p:ph type="title"/>
          </p:nvPr>
        </p:nvSpPr>
        <p:spPr>
          <a:xfrm>
            <a:off x="919119" y="3785420"/>
            <a:ext cx="10353761" cy="1326321"/>
          </a:xfrm>
        </p:spPr>
        <p:txBody>
          <a:bodyPr/>
          <a:lstStyle/>
          <a:p>
            <a:pPr algn="l"/>
            <a:r>
              <a:rPr lang="en-IN" dirty="0"/>
              <a:t>Thank you</a:t>
            </a:r>
            <a:br>
              <a:rPr lang="en-IN" dirty="0"/>
            </a:br>
            <a:r>
              <a:rPr lang="en-IN" sz="2400" dirty="0"/>
              <a:t>Project by vivek Mukund deve</a:t>
            </a:r>
          </a:p>
        </p:txBody>
      </p:sp>
    </p:spTree>
    <p:extLst>
      <p:ext uri="{BB962C8B-B14F-4D97-AF65-F5344CB8AC3E}">
        <p14:creationId xmlns:p14="http://schemas.microsoft.com/office/powerpoint/2010/main" val="3149168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1078</TotalTime>
  <Words>370</Words>
  <Application>Microsoft Office PowerPoint</Application>
  <PresentationFormat>Widescreen</PresentationFormat>
  <Paragraphs>33</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Bookman Old Style</vt:lpstr>
      <vt:lpstr>Rockwell</vt:lpstr>
      <vt:lpstr>Damask</vt:lpstr>
      <vt:lpstr>Configuring S3 Event Notifications with SNS</vt:lpstr>
      <vt:lpstr>Objective:-</vt:lpstr>
      <vt:lpstr>Scope of project:-</vt:lpstr>
      <vt:lpstr>List of services integrated:-</vt:lpstr>
      <vt:lpstr>Create sns(simple notification service):-</vt:lpstr>
      <vt:lpstr>Create S3 bucket:-</vt:lpstr>
      <vt:lpstr>Create SQS(simple query service)</vt:lpstr>
      <vt:lpstr>Update the SqS access policy to allow the S3 bucket to publish event notifications.:-</vt:lpstr>
      <vt:lpstr>Create subscription:-</vt:lpstr>
      <vt:lpstr>PowerPoint Presentation</vt:lpstr>
      <vt:lpstr>Add SQS as a Notification Destination for S3 Bucket Events:-</vt:lpstr>
      <vt:lpstr>PowerPoint Presentation</vt:lpstr>
      <vt:lpstr>Add files to receive message :-</vt:lpstr>
      <vt:lpstr>Click on send and receive message:-</vt:lpstr>
      <vt:lpstr>received message after adding the file:-</vt:lpstr>
      <vt:lpstr>Delete added file to receive message:-</vt:lpstr>
      <vt:lpstr>Received message after deleting the file:-</vt:lpstr>
      <vt:lpstr>Thank you Project by vivek Mukund deve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Vivek Deve</dc:creator>
  <cp:lastModifiedBy>Vivek Deve</cp:lastModifiedBy>
  <cp:revision>4</cp:revision>
  <dcterms:created xsi:type="dcterms:W3CDTF">2025-04-28T14:25:04Z</dcterms:created>
  <dcterms:modified xsi:type="dcterms:W3CDTF">2025-05-01T18:25:35Z</dcterms:modified>
</cp:coreProperties>
</file>